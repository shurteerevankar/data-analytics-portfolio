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46" autoAdjust="0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437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64008" cy="2743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887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85800" y="255649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· Bookings · Occupancy · Performance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946766"/>
            <a:ext cx="777240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10941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85800" y="331057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– July 2024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310941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651760" y="331057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Metro Cities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17720" y="310941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17720" y="331057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Atliq Properties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3112379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POINTS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583680" y="331057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134,590 Bookings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0" y="480060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Hospitality Analytics Team  |  Tools: Power BI · Excel · SQL</a:t>
            </a:r>
            <a:endParaRPr lang="en-US" sz="9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A79B4A-31D8-3909-2AF6-E90E3F185F00}"/>
              </a:ext>
            </a:extLst>
          </p:cNvPr>
          <p:cNvSpPr txBox="1"/>
          <p:nvPr/>
        </p:nvSpPr>
        <p:spPr>
          <a:xfrm>
            <a:off x="7599934" y="3558516"/>
            <a:ext cx="17128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i="1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8707E5-338B-632A-C581-49F27BFC5FBA}"/>
              </a:ext>
            </a:extLst>
          </p:cNvPr>
          <p:cNvSpPr txBox="1"/>
          <p:nvPr/>
        </p:nvSpPr>
        <p:spPr>
          <a:xfrm>
            <a:off x="7599934" y="3831103"/>
            <a:ext cx="1625091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Shrutee Sujit Revankar</a:t>
            </a:r>
          </a:p>
          <a:p>
            <a:r>
              <a:rPr lang="en-IN" sz="11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Veekshita</a:t>
            </a:r>
            <a:r>
              <a:rPr lang="en-IN" sz="11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 S</a:t>
            </a:r>
          </a:p>
          <a:p>
            <a:r>
              <a:rPr lang="en-IN" sz="11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Bhavika </a:t>
            </a:r>
            <a:r>
              <a:rPr lang="en-IN" sz="11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Bodlekar</a:t>
            </a:r>
            <a:endParaRPr lang="en-IN" sz="1100" dirty="0">
              <a:solidFill>
                <a:schemeClr val="accent4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1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Archana Kumari</a:t>
            </a:r>
          </a:p>
          <a:p>
            <a:r>
              <a:rPr lang="en-IN" sz="11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Sarika Sudarshan </a:t>
            </a:r>
            <a:r>
              <a:rPr lang="en-IN" sz="11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Telore</a:t>
            </a:r>
            <a:endParaRPr lang="en-IN" sz="1100" dirty="0">
              <a:solidFill>
                <a:schemeClr val="accent4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1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Nagireddy </a:t>
            </a:r>
            <a:r>
              <a:rPr lang="en-IN" sz="11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Gariswetha</a:t>
            </a:r>
            <a:endParaRPr lang="en-IN" sz="1100" dirty="0">
              <a:solidFill>
                <a:schemeClr val="accent4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1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Panduranga V 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PROJECT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64008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9326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Project Goal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" y="129844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hospitality performance across 4 cities and 7 hotels using multi-source data to drive revenue and operational decisions.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2514600"/>
            <a:ext cx="42062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514600"/>
            <a:ext cx="64008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6243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Scope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299008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dataset (May–July 2024) covering 134,590 bookings, revenue trends, room classes, booking platforms, and cancellation patterns.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822960"/>
            <a:ext cx="42062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822960"/>
            <a:ext cx="64008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9326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🏨  Properties Covered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9472" y="129844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Exotica · Atliq Palace · Atliq City · Atliq Blu · Atliq Bay · Atliq Grands · </a:t>
            </a:r>
            <a:r>
              <a:rPr lang="en-US" sz="10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Seasons: across Mumbai, Bangalore, Hyderabad, and Delhi.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514600"/>
            <a:ext cx="42062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514600"/>
            <a:ext cx="64008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26243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Tools Used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19472" y="299008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Power BI &amp; Tableau for interactive dashboards 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SQL for data extraction 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Excel for initial exploration and cleaning.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0" y="4206240"/>
            <a:ext cx="9144000" cy="9326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251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₹1.71B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74320" y="46634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57400" y="4251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1,34,590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057400" y="46634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Bookings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40480" y="4251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70.15%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840480" y="46634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Rate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23560" y="4251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24.83%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623560" y="46634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406640" y="4251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₹569.6M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406640" y="46634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 Rev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DATA CLEANING &amp; PREPARATION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502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04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804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06070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raw booking data from hotel, covering reservations, revenue, room class, city, and platform details for 3 months.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502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828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&amp; Duplicate Handling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08483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and removed duplicate entries. Filled missing revenue values using median imputation per room class.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852928"/>
            <a:ext cx="502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852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8529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&amp; Type Formatting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10896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date formats to YYYY-MM-DD. Converted categorical fields (booking_status, room_class) to consistent labels.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877056"/>
            <a:ext cx="502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877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8770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Columns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413308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new columns: Week_Type (Weekend/Weekday), Month_Name, Revenue_per_Booking, and Utilization Rate for deeper slicing.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37760" y="8046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Dataset Overview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115568"/>
          <a:ext cx="3931920" cy="3456432"/>
        </p:xfrm>
        <a:graphic>
          <a:graphicData uri="http://schemas.openxmlformats.org/drawingml/2006/table">
            <a:tbl>
              <a:tblPr/>
              <a:tblGrid>
                <a:gridCol w="131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booking identifier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hotel_name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 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room_class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Elite / Premium / Std / Pres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 / Delhi / Bangalore / Hyd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check_in_date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Guest check-in 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booking_status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Checked Out / Cancelled / No Show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revenue_realized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revenue collected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booking_platform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Journey / MakeMyTrip / Direct etc.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" y="481888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Final cleaned dataset: 134,590 rows · 15 columns · Zero nulls · Validated across all booking platforms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DASHBOARD OVERVIEW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49808"/>
            <a:ext cx="5303520" cy="29718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749808"/>
            <a:ext cx="3246120" cy="141732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2286000"/>
            <a:ext cx="3246120" cy="143560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28600" y="3794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Excel Dashboard: Revenue, occupancy, city-wise &amp; hotel performance with slicer filters</a:t>
            </a:r>
            <a:endParaRPr lang="en-US" sz="850" dirty="0"/>
          </a:p>
        </p:txBody>
      </p:sp>
      <p:sp>
        <p:nvSpPr>
          <p:cNvPr id="8" name="Text 3"/>
          <p:cNvSpPr/>
          <p:nvPr/>
        </p:nvSpPr>
        <p:spPr>
          <a:xfrm>
            <a:off x="5669280" y="37947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Tableau Dashboard — Weekly trends &amp; booking status breakdown</a:t>
            </a:r>
            <a:endParaRPr lang="en-US" sz="800" dirty="0"/>
          </a:p>
        </p:txBody>
      </p:sp>
      <p:sp>
        <p:nvSpPr>
          <p:cNvPr id="9" name="Text 4"/>
          <p:cNvSpPr/>
          <p:nvPr/>
        </p:nvSpPr>
        <p:spPr>
          <a:xfrm>
            <a:off x="5669280" y="41148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Power BI Dashboard — Elite class deep-dive with property metrics table</a:t>
            </a:r>
            <a:endParaRPr lang="en-US" sz="800" dirty="0"/>
          </a:p>
        </p:txBody>
      </p:sp>
      <p:sp>
        <p:nvSpPr>
          <p:cNvPr id="10" name="Shape 5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274320" y="448056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Interactive Slicers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2048256" y="448056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Weekly Drill-Down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3822192" y="448056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City &amp; Hotel Filters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5596128" y="448056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Multi-KPI Cards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7370064" y="448056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Cross-Visual Filtering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KPI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157276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80467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₹1.71B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" y="126187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149047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May–Jul 2024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984248" y="777240"/>
            <a:ext cx="1572768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84248" y="80467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1,34,590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984248" y="126187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Bookings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984248" y="149047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hotels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739896" y="777240"/>
            <a:ext cx="1572768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9896" y="80467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70.15%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39896" y="126187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Rate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739896" y="149047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class: 57.6%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495544" y="777240"/>
            <a:ext cx="1572768" cy="960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95544" y="80467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24.83%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95544" y="126187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95544" y="149047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improvement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251192" y="777240"/>
            <a:ext cx="157276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51192" y="80467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₹6,515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51192" y="126187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RevPAR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251192" y="149047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avail room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28600" y="1920240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19202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84048" y="213969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dipped to ₹553.9M (low) before recovering to ₹572.9M in Jul; May was highest at ₹581.9M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8600" y="2651760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265176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Class Split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84048" y="28712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leads at 32.79% revenue share; Standard lowest at 18.12%; Premium contributes 27.05%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28600" y="3383280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338328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Performance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84048" y="360273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#1 at ₹668.6M; Delhi lowest at ₹294.5M despite being capital; Bangalore #2 at ₹420.4M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28600" y="4114800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411480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Status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84048" y="433425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bookings Checked Out (healthy); 25% Cancelled (high churn); 5% No Show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1920240"/>
            <a:ext cx="54864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18888" y="192024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vs Weekday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18888" y="213969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revenue (₹1,069.7M) nearly double weekend (₹639.1M) — corporate demand drives business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2651760"/>
            <a:ext cx="54864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18888" y="26517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(Avg Daily Rate)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18888" y="287121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₹11,320 overall; Weekend ADR slightly higher at ₹11,354 vs Weekday ₹11,305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63440" y="3383280"/>
            <a:ext cx="54864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18888" y="338328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Hotel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818888" y="360273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Exotica leads with ₹320.3M revenue; Atliq Bay closes list at ₹260.1M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63440" y="4114800"/>
            <a:ext cx="54864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18888" y="411480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Realisation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818888" y="433425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and LogTrip top realisation at ~70.7%; MakeMyTrip slightly lower at 69.7%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INSIGHTS &amp; SUGGESTIONS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Key Insights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4206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15568"/>
            <a:ext cx="54864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70432"/>
            <a:ext cx="3886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Revenue dipped in June by 4.8% vs May, suggesting mid-quarter demand slack or pricing gap.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4206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828800"/>
            <a:ext cx="54864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83664"/>
            <a:ext cx="3886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  Delhi underperforms vs its market potential — ₹294.5M vs Mumbai's ₹668.6M despite comparable hotel count.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542032"/>
            <a:ext cx="4206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542032"/>
            <a:ext cx="54864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596896"/>
            <a:ext cx="3886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Cancellation rate of 24.83% is high — directly impacting occupancy and revenue realization.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1115568"/>
            <a:ext cx="4206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115568"/>
            <a:ext cx="54864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170432"/>
            <a:ext cx="3886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Weekday revenue is 67% higher than weekends, showing heavy corporate booking dependency.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1828800"/>
            <a:ext cx="4206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828800"/>
            <a:ext cx="54864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883664"/>
            <a:ext cx="3886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Elite rooms drive 32.79% of revenue but show 57.6% occupancy — room to upsell and improve fill rate.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542032"/>
            <a:ext cx="4206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542032"/>
            <a:ext cx="54864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596896"/>
            <a:ext cx="3886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Journey &amp; LogTrip platforms have highest realisation (70.7%) — OTAs like MakeMyTrip slightly lower.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0" y="4206240"/>
            <a:ext cx="9144000" cy="9326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2245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Recommendations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" y="45262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Launch weekend promotions to boost leisure occupancy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478231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Introduce flexible cancellation policies to reduce churn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09160" y="45262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Invest in direct booking channels to improve ADR margins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09160" y="478231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Focus marketing spend on Delhi properties to close gap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CONCLUSION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1325880"/>
          </a:xfrm>
          <a:prstGeom prst="rect">
            <a:avLst/>
          </a:prstGeom>
          <a:solidFill>
            <a:srgbClr val="1B2A4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68680"/>
            <a:ext cx="7955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hospitality analytics project delivered a comprehensive view of revenue performance, booking behaviour, and occupancy trends across 7 Atliq properties in 4 Indian cities over Q2–Q3 2024. The Power BI dashboards enabled real-time, filterable insight across room classes, platforms, cities, and time periods — empowering data-driven decisions at every level.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2606040" cy="1920240"/>
          </a:xfrm>
          <a:prstGeom prst="rect">
            <a:avLst/>
          </a:prstGeom>
          <a:solidFill>
            <a:srgbClr val="1B2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331720"/>
            <a:ext cx="260604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331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" y="2743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Recoverable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309067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June dip of ~5% was reversed in July — targeted pricing strategies can smooth quarterly volatility and protect ₹1.71B annual run-rate.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2331720"/>
            <a:ext cx="2606040" cy="1920240"/>
          </a:xfrm>
          <a:prstGeom prst="rect">
            <a:avLst/>
          </a:prstGeom>
          <a:solidFill>
            <a:srgbClr val="1B2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2331720"/>
            <a:ext cx="260604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2331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10128" y="2743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Cancellations are Solvable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10128" y="309067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24.83% cancellation rate = lost revenue. Dynamic deposit policies and loyalty incentives could recapture 10–15% of cancelled bookings.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2331720"/>
            <a:ext cx="2606040" cy="1920240"/>
          </a:xfrm>
          <a:prstGeom prst="rect">
            <a:avLst/>
          </a:prstGeom>
          <a:solidFill>
            <a:srgbClr val="1B2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2331720"/>
            <a:ext cx="260604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2331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44768" y="2743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Dominance Needs Balance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44768" y="309067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 weekday revenue share indicates under-served leisure segment. Weekend packages and experiential offers can unlock new revenue streams.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0" y="4434840"/>
            <a:ext cx="9144000" cy="7040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4434840"/>
            <a:ext cx="91440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 Welcome  ·  Hospitality Analytics Dashboard  |  Atliq Hotels Group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988</Words>
  <Application>Microsoft Office PowerPoint</Application>
  <PresentationFormat>On-screen Show (16:9)</PresentationFormat>
  <Paragraphs>156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Hospitality Analytics Dashboard</dc:title>
  <dc:subject>PptxGenJS Presentation</dc:subject>
  <dc:creator>Hospitality Analytics Team</dc:creator>
  <cp:lastModifiedBy>Shruti Revankar</cp:lastModifiedBy>
  <cp:revision>4</cp:revision>
  <dcterms:created xsi:type="dcterms:W3CDTF">2026-04-18T08:38:41Z</dcterms:created>
  <dcterms:modified xsi:type="dcterms:W3CDTF">2026-04-27T06:36:29Z</dcterms:modified>
</cp:coreProperties>
</file>